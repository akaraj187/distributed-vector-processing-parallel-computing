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PARALLEL &amp; GPU COMPUTING (PGC) LAB — LAB EVALUATION</a:t>
            </a:r>
          </a:p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</a:defRPr>
            </a:pPr>
            <a:r>
              <a:t>Distributed Vector Processing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</a:defRPr>
            </a:pPr>
            <a:r>
              <a:t>Experimental Benchmark Evaluation, Speedup Scaling &amp; MPI Collective Analysis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Team Assignment: Topic 5 | Model: Message Passing Interface (MPI)</a:t>
            </a:r>
            <a:br/>
            <a:r>
              <a:t>Author: Akash TD  |  USN: 01FE24BCI081</a:t>
            </a:r>
            <a:br/>
            <a:r>
              <a:t>Host Machine: Intel(R) Core(TM) i5-5300U @ 2.30GHz (2 Cores, 4 Threads) | Ubuntu x86_64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LAB EVALUATION — TEAM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Checkpoint 1: Problem Definition &amp; Mathematical Formulation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Problem Statement &amp; Objective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Vector processing operations (BLAS-1) form the computational backbone of scientific modeling, simulation pipelines, and machine learning.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As dataset length N scales to tens of millions of elements (N = 10^6 to 5x10^7), single-core execution suffers from CPU cache capacity limits and memory bus saturation.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Primary Goal: Partition massive 1D vectors across multiple distributed MPI ranks to execute element-wise transformations and global reductions in parallel.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Measure and compare both end-to-end execution time and breakdown: Pure Computation vs. Collective Inter-Process Communication (IPC).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Mathematical Formulation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1. Linear Vector Transformation (SAXPY-like):</a:t>
            </a:r>
            <a:br/>
            <a:r>
              <a:t>   Z[i] = α · X[i] + β · Y[i]  (α=2.5, β=1.5)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2. Non-linear Mathematical Pipeline:</a:t>
            </a:r>
            <a:br/>
            <a:r>
              <a:t>   W[i] = sqrt(X[i]² + Y[i]²) + sin(X[i]) + cos(Y[i])</a:t>
            </a:r>
            <a:br/>
            <a:r>
              <a:t>   (Forces floating-point arithmetic throughput)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3. Global Reductions:</a:t>
            </a:r>
            <a:br/>
            <a:r>
              <a:t>   • Dot Product: D = Σ (X[i] · Y[i])</a:t>
            </a:r>
            <a:br/>
            <a:r>
              <a:t>   • Euclidean L2 Norm: ||X||₂ = sqrt(Σ X[i]²)</a:t>
            </a:r>
            <a:br/>
            <a:r>
              <a:t>   • Array Sum &amp; Extrema: Σ Z[i], min(W), max(W)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Deterministic input: X[i] = sin((i%1000)·0.01) + 1.5, Y[i] = cos((i%1000)·0.01) + 2.0 ensuring 100% numerical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LAB EVALUATION — TEAM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Checkpoint 1: Parallel Design &amp; Domain Decomposition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Domain Decomposition Strategy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1D Block Decomposition: For vector size N and P processes, each rank receives local_n = N / P elements.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Arbitrary Remainder Handling: R = N mod P remainder elements are distributed to the first R ranks (counts = base + (rank &lt; R ? 1 : 0)).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Displacement Array: displs[r] = Σ sendcounts[0..r-1] ensures continuous, zero-overlap memory layout.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Local Memory Footprint: Each rank allocates only O(N / P) memory, allowing arrays to stay resident within per-core CPU caches.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Two Distinct Workflow Models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Model A: Centralized Master-Worker (Scatter-Gather)</a:t>
            </a:r>
            <a:br/>
            <a:r>
              <a:t>• Rank 0 distributes slices via MPI_Scatterv.</a:t>
            </a:r>
            <a:br/>
            <a:r>
              <a:t>• Workers compute local transformations.</a:t>
            </a:r>
            <a:br/>
            <a:r>
              <a:t>• Results gathered back via MPI_Gatherv.</a:t>
            </a:r>
            <a:br/>
            <a:r>
              <a:t>• Trade-off: High IPC communication overhead O(N).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Model B: In-Situ Domain-Decomposed (Production Grade)</a:t>
            </a:r>
            <a:br/>
            <a:r>
              <a:t>• Each rank initializes its local sub-domain directly in-place.</a:t>
            </a:r>
            <a:br/>
            <a:r>
              <a:t>• Pure O(N/P) parallel computation.</a:t>
            </a:r>
            <a:br/>
            <a:r>
              <a:t>• Only scalar results communicated via MPI_Reduce O(log P).</a:t>
            </a:r>
            <a:br/>
            <a:r>
              <a:t>• Trade-off: Maximum scalability and zero bus bottleneck.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LAB EVALUATION — TEAM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Checkpoint 2: Working Parallel Implementation (MPI)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Core MPI Collective Primitives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MPI_Scatterv: Scatter variable-length vector segments from Rank 0 to all P worker ranks with displs offset mapping.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MPI_Reduce: Efficient tree-based reductions across all ranks for Dot Product, L2 Norm, and Z-Sum using MPI_SUM, MPI_MIN, MPI_MAX.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MPI_Gatherv: Collect transformed result vectors Z and W back to Rank 0 for global persistence and automated testing.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MPI_Barrier &amp; MPI_Wtime: Nanosecond-precision phase-by-phase instrumentation separating Scatter, Compute, Reduce, and Gather.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Verification &amp; Numerical Robustness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Automated Verification Engine: Compares distributed outputs against sequential analytical baseline.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Double Precision Tolerance: Checks |Z_mpi[i] - Z_ref[i]| &lt; 10⁻⁶ and scalar reduction relative error &lt; 10⁻⁶.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Portability &amp; Safety: Tested on Open MPI 4.1.6 with GCC -O3 optimization flags.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Status: 100% Correctness Verified across all data tiers (1M, 10M, 50M elements) and process counts (P=1 to P=16).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LAB EVALUATION — TEAM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Checkpoint 3: Host Machine Hardware &amp; Benchmark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Actual Host Hardware Specifications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Processor: Intel(R) Core(TM) i5-5300U CPU @ 2.30GHz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Microarchitecture: Broadwell (14nm), 64-bit x86_64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Physical Cores: 2 Cores | Hardware Threads: 4 Threads (SMT/Hyper-Threading)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CPU Cache Hierarchy: L1d: 64 KB, L1i: 64 KB, L2: 512 KB, L3: 3 MiB Intel Smart Cache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Host RAM: 3.8 GiB available in WSL2 environment (+ 1.0 GiB Swap)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Operating System: Ubuntu 24.04 LTS (Linux Kernel 6.6 on Microsoft Hyper-V)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Benchmark Matrix Tested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Workload Tiers Tested:</a:t>
            </a:r>
            <a:br/>
            <a:r>
              <a:t>  • N = 1,000,000 (30.52 MB working set)</a:t>
            </a:r>
            <a:br/>
            <a:r>
              <a:t>  • N = 10,000,000 (305.18 MB working set)</a:t>
            </a:r>
            <a:br/>
            <a:r>
              <a:t>  • N = 50,000,000 (1,525.88 MB / 1.52 GB working set)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Process Counts Evaluated:</a:t>
            </a:r>
            <a:br/>
            <a:r>
              <a:t>  • P = 1 (Single Process Baseline)</a:t>
            </a:r>
            <a:br/>
            <a:r>
              <a:t>  • P = 2 (1 process per physical core)</a:t>
            </a:r>
            <a:br/>
            <a:r>
              <a:t>  • P = 4 (Full physical hardware thread saturation)</a:t>
            </a:r>
            <a:br/>
            <a:r>
              <a:t>  • P = 8, 16 (Software over-subscription / time-slicing)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Automated Test Suite: bash results/run_benchmarks.sh capturing all timings and CSV outputs.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LAB EVALUATION — TEAM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Execution Screenshots: Terminal Output Verification</a:t>
            </a:r>
          </a:p>
        </p:txBody>
      </p:sp>
      <p:pic>
        <p:nvPicPr>
          <p:cNvPr id="5" name="Picture 4" descr="01fe24bci081_system_hardware_spe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4572000"/>
          </a:xfrm>
          <a:prstGeom prst="rect">
            <a:avLst/>
          </a:prstGeom>
        </p:spPr>
      </p:pic>
      <p:pic>
        <p:nvPicPr>
          <p:cNvPr id="6" name="Picture 5" descr="01fe24bci081_MPI_InSitu_Exec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LAB EVALUATION — TEAM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Checkpoint 4: Execution Time &amp; Speedup Scaling Analysis</a:t>
            </a:r>
          </a:p>
        </p:txBody>
      </p:sp>
      <p:pic>
        <p:nvPicPr>
          <p:cNvPr id="5" name="Picture 4" descr="execution_time_vs_proc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4572000"/>
          </a:xfrm>
          <a:prstGeom prst="rect">
            <a:avLst/>
          </a:prstGeom>
        </p:spPr>
      </p:pic>
      <p:pic>
        <p:nvPicPr>
          <p:cNvPr id="6" name="Picture 5" descr="speedup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LAB EVALUATION — TEAM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Checkpoint 4: Parallel Efficiency &amp; Communication Breakdown</a:t>
            </a:r>
          </a:p>
        </p:txBody>
      </p:sp>
      <p:pic>
        <p:nvPicPr>
          <p:cNvPr id="5" name="Picture 4" descr="parallel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4572000"/>
          </a:xfrm>
          <a:prstGeom prst="rect">
            <a:avLst/>
          </a:prstGeom>
        </p:spPr>
      </p:pic>
      <p:pic>
        <p:nvPicPr>
          <p:cNvPr id="6" name="Picture 5" descr="computation_vs_commun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LAB EVALUATION — TEAM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Checkpoint 4: Hardware Systems Analysis &amp; Scaling Limits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Why Speedup Peaks at Physical Threads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Physical Architecture: The host CPU has 2 physical cores and 4 hardware threads (SMT).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Linear Scaling (P = 1 -&gt; 2 -&gt; 4): Execution scales rapidly up to P = 4 because each MPI rank is assigned an independent hardware thread without CPU resource contention.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Over-Subscription (P = 8, 16): When spawning 8 or 16 processes on 4 logical threads, the OS kernel must time-slice and context-switch processes, incurring scheduler overhead without adding extra execution units.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Cache Superlinear Effect: For N = 50M, dividing the 1.52 GB vector into smaller chunks allows more frequent cache hits, yielding strong performance gains.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In-Situ vs Scatter-Gather Communication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Communication Overhead in Centralized Model:</a:t>
            </a:r>
            <a:br/>
            <a:r>
              <a:t>  • Scattering and gathering 1.5 GB of doubles over IPC memory sockets consumes over 4 seconds, bounding speedup.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In-Situ Scalability:</a:t>
            </a:r>
            <a:br/>
            <a:r>
              <a:t>  • In-situ eliminates IPC vector transport; only tiny scalar results (dot product, norm, sum) are communicated via MPI_Reduce.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Gustafson's Law Proof:</a:t>
            </a:r>
            <a:br/>
            <a:r>
              <a:t>  • For N = 50M, In-Situ computation scales from 9.4s down to 1.42s (6.59x speedup, 35+ Million elements/sec throughput)!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LAB EVALUATION — TEAM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Checkpoint 5: Technical Viva Preparation &amp;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Common Viva Questions &amp; Answers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Q: Why MPI_Scatterv instead of MPI_Scatter?</a:t>
            </a:r>
            <a:br/>
            <a:r>
              <a:t>A: MPI_Scatter requires N to be cleanly divisible by P. MPI_Scatterv supports variable chunk sizes and displacement offsets, properly handling N % P != 0.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Q: What is the complexity of MPI_Reduce vs Point-to-Point?</a:t>
            </a:r>
            <a:br/>
            <a:r>
              <a:t>A: Naive point-to-point gather is O(P). MPI_Reduce implements a binomial tree / recursive doubling reduction with O(log P) steps.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Q: Is MPI shared memory or distributed memory?</a:t>
            </a:r>
            <a:br/>
            <a:r>
              <a:t>A: Distributed memory model (processes have private address spaces; data exchange occurs exclusively via explicit message passing).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Architecture &amp; Optimization Q&amp;A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Q: Why did performance plateau beyond 4 processes on this machine?</a:t>
            </a:r>
            <a:br/>
            <a:r>
              <a:t>A: Because the host Intel i5-5300U has 4 hardware threads. Processes beyond 4 are over-subscribed, causing context-switch overhead.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Q: When does MPI parallelization hurt performance?</a:t>
            </a:r>
            <a:br/>
            <a:r>
              <a:t>A: On small workloads where IPC communication latency and message serialization exceed the sequential computation time.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Q: How do you verify numerical correctness?</a:t>
            </a:r>
            <a:br/>
            <a:r>
              <a:t>A: Deterministic mathematical initialization verified against double-precision ground truth with strict tolerance eps &lt; 10⁻⁶.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LAB EVALUATION — TEAM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Conclusions &amp; Submission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Key Conclusions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Successfully achieved all 5 evaluation checkpoints with rigorous experimental benchmarking on the host machine.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Demonstrated 100% numerical accuracy across sequential, MPI centralized, and MPI in-situ implementations.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Identified the critical communication-to-computation tipping point where distributed processing delivers high speedup.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Showcased production-grade domain decomposition with arbitrary remainder handling and high-throughput collective reductions.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Submission Compliance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GitHub Repository: Structured exactly as instructed (src/, data/, results/, graphs/, report/, presentation/, screenshots/).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README.md: Comprehensive documentation with host machine specs, setup instructions, math formulation, benchmark tables, and viva guide.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Presentation: Complete PPT with embedded performance graphs and terminal screenshots for lab evaluation viva.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Report: Full PDF/Markdown technical report included.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