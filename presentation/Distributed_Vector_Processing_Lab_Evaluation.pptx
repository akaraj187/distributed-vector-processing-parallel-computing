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</a:defRPr>
            </a:pPr>
            <a:r>
              <a:t>PARALLEL &amp; GPU COMPUTING (PGC) LAB — LAB EVALUATION</a:t>
            </a:r>
          </a:p>
          <a:p>
            <a:pPr>
              <a:spcAft>
                <a:spcPts val="800"/>
              </a:spcAft>
              <a:defRPr sz="3600" b="1">
                <a:solidFill>
                  <a:srgbClr val="F8FAFC"/>
                </a:solidFill>
              </a:defRPr>
            </a:pPr>
            <a:r>
              <a:t>Distributed Vector Processing</a:t>
            </a:r>
          </a:p>
          <a:p>
            <a:pPr>
              <a:spcAft>
                <a:spcPts val="3000"/>
              </a:spcAft>
              <a:defRPr sz="1800">
                <a:solidFill>
                  <a:srgbClr val="94A3B8"/>
                </a:solidFill>
              </a:defRPr>
            </a:pPr>
            <a:r>
              <a:t>Checkpoint-Driven Experimental Evaluation, Performance Scaling &amp; MPI Collective Analysis</a:t>
            </a:r>
          </a:p>
          <a:p>
            <a:pPr>
              <a:defRPr sz="1300">
                <a:solidFill>
                  <a:srgbClr val="38BDF8"/>
                </a:solidFill>
              </a:defRPr>
            </a:pPr>
            <a:r>
              <a:t>Team Assignment: Topic 5 | Model: Message Passing Interface (MPI)</a:t>
            </a:r>
            <a:br/>
            <a:r>
              <a:t>Author: Akash TD  |  USN: 01FE24BCI081  |  System: 16 Logical Cores, Ubuntu x86_64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1: Problem Definition &amp; Mathematical Formulation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Problem Statement &amp; Objective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Vector processing operations (BLAS-1) form the computational backbone of scientific simulations, machine learning, and physical modeling.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As dataset length N scales to hundreds of millions of elements (N = 10^6 to 10^8), single-core execution suffers from CPU cache capacity limits and memory bus saturation.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Primary Goal: Partition massive 1D vectors across multiple distributed MPI ranks to execute element-wise transformations and global reductions in parallel.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Assess both end-to-end execution time and breakdown: Pure Computation vs. Collective Inter-Process Communication (IPC).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Mathematical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1. Linear Vector Transformation (SAXPY-like):</a:t>
            </a:r>
            <a:br/>
            <a:r>
              <a:t>   Z[i] = α · X[i] + β · Y[i]  (α=2.5, β=1.5)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2. Non-linear Mathematical Pipeline:</a:t>
            </a:r>
            <a:br/>
            <a:r>
              <a:t>   W[i] = sqrt(X[i]² + Y[i]²) + sin(X[i]) + cos(Y[i])</a:t>
            </a:r>
            <a:br/>
            <a:r>
              <a:t>   (Forces floating-point arithmetic throughput)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3. Global Reductions:</a:t>
            </a:r>
            <a:br/>
            <a:r>
              <a:t>   • Dot Product: D = Σ (X[i] · Y[i])</a:t>
            </a:r>
            <a:br/>
            <a:r>
              <a:t>   • Euclidean L2 Norm: ||X||₂ = sqrt(Σ X[i]²)</a:t>
            </a:r>
            <a:br/>
            <a:r>
              <a:t>   • Array Sum &amp; Extrema: Σ Z[i], min(W), max(W)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Deterministic input: X[i] = sin((i%1000)·0.01) + 1.5, Y[i] = cos((i%1000)·0.01) + 2.0 ensuring 100% numerical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1: Parallel Design &amp; Decomposition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Domain Decomposition Strategy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1D Block Decomposition: For vector size N and P processes, each rank receives local_n = N / P elements.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Arbitrary Remainder Handling: R = N mod P remainder elements are distributed to the first R ranks (counts = base + (rank &lt; R ? 1 : 0)).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Displacement Array: displs[r] = Σ sendcounts[0..r-1] ensures continuous, zero-overlap memory layout.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Scalable Memory: Local worker memory footprint shrinks linearly as O(N / P), allowing datasets that exceed single-core memory caches.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Two Distinct Workflow Models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A: Centralized Master-Worker (Scatter-Gather)</a:t>
            </a:r>
            <a:br/>
            <a:r>
              <a:t>• Rank 0 distributes slices via MPI_Scatterv.</a:t>
            </a:r>
            <a:br/>
            <a:r>
              <a:t>• Workers compute local transformations.</a:t>
            </a:r>
            <a:br/>
            <a:r>
              <a:t>• Results gathered back via MPI_Gatherv.</a:t>
            </a:r>
            <a:br/>
            <a:r>
              <a:t>• Trade-off: High IPC communication overhead O(N).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B: In-Situ Domain-Decomposed (Production Grade)</a:t>
            </a:r>
            <a:br/>
            <a:r>
              <a:t>• Each rank initializes its local sub-domain directly in-place.</a:t>
            </a:r>
            <a:br/>
            <a:r>
              <a:t>• Pure O(N/P) parallel computation.</a:t>
            </a:r>
            <a:br/>
            <a:r>
              <a:t>• Only scalar results communicated via MPI_Reduce O(log P).</a:t>
            </a:r>
            <a:br/>
            <a:r>
              <a:t>• Trade-off: Maximum scalability and zero bus bottleneck.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2: Working Parallel Implementation (MPI)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Core MPI Collective Primitives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MPI_Scatterv: Scatter variable-length vector segments from Rank 0 to all P worker ranks with displs offset mapping.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MPI_Reduce: Efficient tree-based reductions across all ranks for Dot Product, L2 Norm, and Z-Sum using MPI_SUM, MPI_MIN, MPI_MAX.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MPI_Gatherv: Collect transformed result vectors Z and W back to Rank 0 for global persistence and automated testing.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MPI_Barrier &amp; MPI_Wtime: Nanosecond-precision phase-by-phase instrumentation separating Scatter, Compute, Reduce, and Gather.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Verification &amp; Numerical Robustness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Verification Engine: Compares distributed outputs against sequential analytical baseline.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Double Precision Tolerance: Checks |Z_mpi[i] - Z_ref[i]| &lt; 10⁻⁶ and scalar reduction relative error &lt; 10⁻⁶.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Portability &amp; Safety: Tested on Open MPI 4.1.6 with GCC -O3 optimization flags.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Status: 100% Correctness Verified across all data tiers (1M to 100M elements) and process counts (P=1 to P=16).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3: Experimental Benchmark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Workload Scales Tested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Small Tier (N = 1,000,000 / 10⁶ elements):</a:t>
            </a:r>
            <a:br/>
            <a:r>
              <a:t>  • Working Set: 30.52 MB (L3 Cache Sensitive)</a:t>
            </a:r>
            <a:br/>
            <a:r>
              <a:t>  • Purpose: Measure MPI process launch and latency overhead.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Medium Tier (N = 10,000,000 / 10⁷ elements):</a:t>
            </a:r>
            <a:br/>
            <a:r>
              <a:t>  • Working Set: 305.18 MB</a:t>
            </a:r>
            <a:br/>
            <a:r>
              <a:t>  • Purpose: RAM bandwidth bound regime.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Large Tier (N = 50,000,000 / 5×10⁷ elements):</a:t>
            </a:r>
            <a:br/>
            <a:r>
              <a:t>  • Working Set: 1,525.88 MB (1.52 GB)</a:t>
            </a:r>
            <a:br/>
            <a:r>
              <a:t>  • Purpose: Heavy arithmetic compute stress test.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Stress Tier (N = 100,000,000 / 10⁸ elements):</a:t>
            </a:r>
            <a:br/>
            <a:r>
              <a:t>  • Working Set: 3,051.76 MB (3.05 GB)</a:t>
            </a:r>
            <a:br/>
            <a:r>
              <a:t>  • Purpose: Multi-core cluster scale scalability limit.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Execution Environment &amp; Process Matrix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Processes Tested: P = 1, 2, 4, 8, 16 ranks (over-subscribed hardware threads).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Host Processor: x86_64, 16 Hardware Threads, 16 GB DDR4 RAM.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Compiler: GCC 13.3.0 with -O3 -Wall -lm flags.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MPI Implementation: Open MPI 4.1.6 (64-bit).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Automated Suite: bash results/run_benchmarks.sh harvesting raw logs and structured CSV.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4: Execution Time &amp; Speedup Scaling Analysis</a:t>
            </a:r>
          </a:p>
        </p:txBody>
      </p:sp>
      <p:pic>
        <p:nvPicPr>
          <p:cNvPr id="5" name="Picture 4" descr="execution_time_vs_proce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303520" cy="4389120"/>
          </a:xfrm>
          <a:prstGeom prst="rect">
            <a:avLst/>
          </a:prstGeom>
        </p:spPr>
      </p:pic>
      <p:pic>
        <p:nvPicPr>
          <p:cNvPr id="6" name="Picture 5" descr="speedup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4: Parallel Efficiency &amp; Communication Breakdown</a:t>
            </a:r>
          </a:p>
        </p:txBody>
      </p:sp>
      <p:pic>
        <p:nvPicPr>
          <p:cNvPr id="5" name="Picture 4" descr="parallel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303520" cy="4389120"/>
          </a:xfrm>
          <a:prstGeom prst="rect">
            <a:avLst/>
          </a:prstGeom>
        </p:spPr>
      </p:pic>
      <p:pic>
        <p:nvPicPr>
          <p:cNvPr id="6" name="Picture 5" descr="computation_vs_commun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4: Deep Systems Performance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Why In-Situ Outperforms Scatter-Gather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Communication Complexity: Centralized Scatter/Gather transfers 2×N doubles (3.05 GB for N=10⁸) across IPC sockets, saturating memory channels.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In-Situ Eliminates Data Transfer: Workers initialize local sub-slices directly in cache, reducing communication to small scalar reductions O(log P).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Throughput Surge: For N=100M, In-Situ achieves massive throughput gains (over 40-60 Million elements/second).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Cache Superlinear Effects: Subdividing vectors into smaller chunks allows them to fit within per-core L2/L3 caches, drastically cutting memory stalls.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Amdahl's Law vs Gustafson's Law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Amdahl's Law (Fixed Workload Size):</a:t>
            </a:r>
            <a:br/>
            <a:r>
              <a:t>  • For small N (1M), serial startup and MPI setup dominate, limiting max speedup.</a:t>
            </a:r>
            <a:br/>
            <a:r>
              <a:t>  • As P increases, communication latency caps efficiency.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Gustafson's Law (Scaled Workload Size):</a:t>
            </a:r>
            <a:br/>
            <a:r>
              <a:t>  • As problem size grows to N=50M and N=100M, the parallel fraction f_p approaches 99.8%.</a:t>
            </a:r>
            <a:br/>
            <a:r>
              <a:t>  • Speedup scales substantially with process count, proving weak-scaling viability in cluster architectures.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Checkpoint 5: Technical Viva Preparation &amp;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Common Viva Questions &amp; Answers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Why MPI_Scatterv instead of MPI_Scatter?</a:t>
            </a:r>
            <a:br/>
            <a:r>
              <a:t>A: MPI_Scatter requires N to be cleanly divisible by P. MPI_Scatterv supports variable chunk sizes and displacement offsets, properly handling N % P != 0.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What is the complexity of MPI_Reduce vs Point-to-Point?</a:t>
            </a:r>
            <a:br/>
            <a:r>
              <a:t>A: Naive point-to-point gather is O(P). MPI_Reduce implements a binomial tree / recursive doubling reduction with O(log P) steps.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Is MPI shared memory or distributed memory?</a:t>
            </a:r>
            <a:br/>
            <a:r>
              <a:t>A: Distributed memory model (processes have private address spaces; data exchange occurs exclusively via explicit message passing).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Architecture &amp; Optimization Q&amp;A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When does MPI parallelization hurt performance?</a:t>
            </a:r>
            <a:br/>
            <a:r>
              <a:t>A: On small workloads where IPC communication latency and message serialization exceed the sequential computation 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How do you prevent race conditions in MPI?</a:t>
            </a:r>
            <a:br/>
            <a:r>
              <a:t>A: Since MPI processes do not share memory addresses, data races on variables cannot occur; synchronization is maintained via collective barriers and blocking messages.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Q: What are the advantages of combining OpenMP with MPI?</a:t>
            </a:r>
            <a:br/>
            <a:r>
              <a:t>A: Hybrid MPI+OpenMP: MPI coordinates across distributed nodes, while OpenMP utilizes multi-threading within each multi-core socket.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LAB EVALUATION — TEAM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Conclusions &amp; Submission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Key Conclusions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Successfully achieved all 5 evaluation checkpoints with rigorous experimental benchmarking.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Demonstrated 100% numerical accuracy across sequential, MPI centralized, and MPI in-situ implementations.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Identified the critical communication-to-computation tipping point where distributed processing delivers high speedup.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Showcased production-grade domain decomposition with arbitrary remainder handling and high-throughput collective reductions.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8BDF8"/>
                </a:solidFill>
              </a:defRPr>
            </a:pPr>
            <a:r>
              <a:t>Submission Compliance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Repository: Structured exactly as instructed (src/, data/, results/, graphs/, report/, presentation/).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README.md: Comprehensive documentation with setup instructions, math formulation, benchmark tables, and viva guide.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Presentation: Complete PPT with embedded performance graphs for lab evaluation viva.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Report: Full PDF/Markdown technical report included.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